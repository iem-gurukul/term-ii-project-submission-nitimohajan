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9"/>
  </p:notesMasterIdLst>
  <p:handoutMasterIdLst>
    <p:handoutMasterId r:id="rId10"/>
  </p:handoutMasterIdLst>
  <p:sldIdLst>
    <p:sldId id="257" r:id="rId2"/>
    <p:sldId id="261" r:id="rId3"/>
    <p:sldId id="259" r:id="rId4"/>
    <p:sldId id="260" r:id="rId5"/>
    <p:sldId id="258" r:id="rId6"/>
    <p:sldId id="262" r:id="rId7"/>
    <p:sldId id="263" r:id="rId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182" autoAdjust="0"/>
  </p:normalViewPr>
  <p:slideViewPr>
    <p:cSldViewPr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3/27/2026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3/27/2026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0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3/27/2026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Library Management system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Problem Statement</a:t>
            </a:r>
            <a:r>
              <a:rPr lang="en-US" dirty="0"/>
              <a:t>: Managing books manually is time-consuming and error-prone. This system automates borrowing, returning, and tracking books efficiently.</a:t>
            </a:r>
          </a:p>
          <a:p>
            <a:r>
              <a:rPr lang="en-US" b="1" dirty="0">
                <a:latin typeface="Calisto MT" panose="02040603050505030304" pitchFamily="18" charset="0"/>
                <a:ea typeface="Cascadia Mono" panose="020B0609020000020004" pitchFamily="49" charset="0"/>
                <a:cs typeface="Cascadia Mono" panose="020B0609020000020004" pitchFamily="49" charset="0"/>
              </a:rPr>
              <a:t>Target Users</a:t>
            </a:r>
            <a:r>
              <a:rPr lang="en-US" dirty="0"/>
              <a:t>: Library staff, students, and library members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75FA2E-994D-682C-62B5-C8D4D80A0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Title: Library Management System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19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309" y="5537831"/>
            <a:ext cx="10157354" cy="1397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IN" dirty="0"/>
              <a:t>Package Structure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8BB04-D531-A862-DE1C-75C8F724D301}"/>
              </a:ext>
            </a:extLst>
          </p:cNvPr>
          <p:cNvSpPr txBox="1"/>
          <p:nvPr/>
        </p:nvSpPr>
        <p:spPr>
          <a:xfrm>
            <a:off x="333772" y="1723298"/>
            <a:ext cx="88102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odoni MT" panose="02070603080606020203" pitchFamily="18" charset="0"/>
              </a:rPr>
              <a:t>Key Classes &amp; Responsibilities:</a:t>
            </a:r>
          </a:p>
          <a:p>
            <a:r>
              <a:rPr lang="en-IN" dirty="0">
                <a:latin typeface="Bodoni MT" panose="02070603080606020203" pitchFamily="18" charset="0"/>
              </a:rPr>
              <a:t>Book: Stores book details and availability</a:t>
            </a:r>
          </a:p>
          <a:p>
            <a:r>
              <a:rPr lang="en-IN" dirty="0">
                <a:latin typeface="Bodoni MT" panose="02070603080606020203" pitchFamily="18" charset="0"/>
              </a:rPr>
              <a:t>Member: Handles member info and borrowing/returning</a:t>
            </a:r>
          </a:p>
          <a:p>
            <a:r>
              <a:rPr lang="en-IN" dirty="0">
                <a:latin typeface="Bodoni MT" panose="02070603080606020203" pitchFamily="18" charset="0"/>
              </a:rPr>
              <a:t>Library: Manages collection of books and system operations</a:t>
            </a:r>
          </a:p>
          <a:p>
            <a:r>
              <a:rPr lang="en-IN" dirty="0">
                <a:latin typeface="Bodoni MT" panose="02070603080606020203" pitchFamily="18" charset="0"/>
              </a:rPr>
              <a:t>User/Admin: Inherits User, Admin performs additional tasks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406E49-4C2F-8985-4B63-DE0B4003D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204" y="3600420"/>
            <a:ext cx="4212000" cy="28091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A948B3-5F9A-89B2-E9EC-4FBCDA295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548" y="69200"/>
            <a:ext cx="4212000" cy="28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9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818356" y="1701800"/>
            <a:ext cx="12093019" cy="4470400"/>
          </a:xfrm>
        </p:spPr>
        <p:txBody>
          <a:bodyPr/>
          <a:lstStyle/>
          <a:p>
            <a:pPr marL="1706581" lvl="4" indent="0">
              <a:buNone/>
            </a:pPr>
            <a:r>
              <a:rPr lang="en-US" b="1" dirty="0">
                <a:latin typeface="Bodoni MT" panose="02070603080606020203" pitchFamily="18" charset="0"/>
              </a:rPr>
              <a:t>Abstraction</a:t>
            </a:r>
            <a:r>
              <a:rPr lang="en-US" dirty="0">
                <a:latin typeface="Bodoni MT" panose="02070603080606020203" pitchFamily="18" charset="0"/>
              </a:rPr>
              <a:t>: User inputs handled via Library class, hiding internal details</a:t>
            </a:r>
          </a:p>
          <a:p>
            <a:pPr marL="1706581" lvl="4" indent="0">
              <a:buNone/>
            </a:pPr>
            <a:r>
              <a:rPr lang="en-US" b="1" dirty="0">
                <a:latin typeface="Bodoni MT" panose="02070603080606020203" pitchFamily="18" charset="0"/>
              </a:rPr>
              <a:t>Inheritance:</a:t>
            </a:r>
            <a:r>
              <a:rPr lang="en-US" dirty="0">
                <a:latin typeface="Bodoni MT" panose="02070603080606020203" pitchFamily="18" charset="0"/>
              </a:rPr>
              <a:t> Admin class extends User class</a:t>
            </a:r>
          </a:p>
          <a:p>
            <a:pPr marL="1706581" lvl="4" indent="0">
              <a:buNone/>
            </a:pPr>
            <a:r>
              <a:rPr lang="en-US" b="1" dirty="0">
                <a:latin typeface="Bodoni MT" panose="02070603080606020203" pitchFamily="18" charset="0"/>
              </a:rPr>
              <a:t>Polymorphism: </a:t>
            </a:r>
            <a:r>
              <a:rPr lang="en-US" dirty="0">
                <a:latin typeface="Bodoni MT" panose="02070603080606020203" pitchFamily="18" charset="0"/>
              </a:rPr>
              <a:t>Overriding methods in Admin for admin-specific actions</a:t>
            </a:r>
          </a:p>
          <a:p>
            <a:pPr marL="1706581" lvl="4" indent="0">
              <a:buNone/>
            </a:pPr>
            <a:r>
              <a:rPr lang="en-US" b="1" dirty="0">
                <a:latin typeface="Bodoni MT" panose="02070603080606020203" pitchFamily="18" charset="0"/>
              </a:rPr>
              <a:t>Encapsulation:</a:t>
            </a:r>
            <a:r>
              <a:rPr lang="en-US" dirty="0">
                <a:latin typeface="Bodoni MT" panose="02070603080606020203" pitchFamily="18" charset="0"/>
              </a:rPr>
              <a:t> Private fields with getters/setters in Book, Member, User</a:t>
            </a:r>
          </a:p>
        </p:txBody>
      </p:sp>
    </p:spTree>
    <p:extLst>
      <p:ext uri="{BB962C8B-B14F-4D97-AF65-F5344CB8AC3E}">
        <p14:creationId xmlns:p14="http://schemas.microsoft.com/office/powerpoint/2010/main" val="60329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Highlight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Bodoni MT" panose="02070603080606020203" pitchFamily="18" charset="0"/>
              </a:rPr>
              <a:t>Specific Design Decision / Code Logic</a:t>
            </a:r>
            <a:r>
              <a:rPr lang="en-US" dirty="0">
                <a:latin typeface="Bodoni MT" panose="02070603080606020203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Bodoni MT" panose="02070603080606020203" pitchFamily="18" charset="0"/>
              </a:rPr>
              <a:t>Used </a:t>
            </a:r>
            <a:r>
              <a:rPr lang="en-US" dirty="0" err="1">
                <a:latin typeface="Bodoni MT" panose="02070603080606020203" pitchFamily="18" charset="0"/>
              </a:rPr>
              <a:t>isAvailable</a:t>
            </a:r>
            <a:r>
              <a:rPr lang="en-US" dirty="0">
                <a:latin typeface="Bodoni MT" panose="02070603080606020203" pitchFamily="18" charset="0"/>
              </a:rPr>
              <a:t> flag in Book class to track whether a book can be borrowed</a:t>
            </a:r>
          </a:p>
          <a:p>
            <a:pPr marL="0" indent="0">
              <a:buNone/>
            </a:pPr>
            <a:r>
              <a:rPr lang="en-US" dirty="0">
                <a:latin typeface="Bodoni MT" panose="02070603080606020203" pitchFamily="18" charset="0"/>
              </a:rPr>
              <a:t>Implemented </a:t>
            </a:r>
            <a:r>
              <a:rPr lang="en-US" dirty="0" err="1">
                <a:latin typeface="Bodoni MT" panose="02070603080606020203" pitchFamily="18" charset="0"/>
              </a:rPr>
              <a:t>borrowBook</a:t>
            </a:r>
            <a:r>
              <a:rPr lang="en-US" dirty="0">
                <a:latin typeface="Bodoni MT" panose="02070603080606020203" pitchFamily="18" charset="0"/>
              </a:rPr>
              <a:t>() and </a:t>
            </a:r>
            <a:r>
              <a:rPr lang="en-US" dirty="0" err="1">
                <a:latin typeface="Bodoni MT" panose="02070603080606020203" pitchFamily="18" charset="0"/>
              </a:rPr>
              <a:t>returnBook</a:t>
            </a:r>
            <a:r>
              <a:rPr lang="en-US" dirty="0">
                <a:latin typeface="Bodoni MT" panose="02070603080606020203" pitchFamily="18" charset="0"/>
              </a:rPr>
              <a:t>() methods to update book status</a:t>
            </a:r>
          </a:p>
          <a:p>
            <a:pPr marL="0" indent="0">
              <a:buNone/>
            </a:pPr>
            <a:r>
              <a:rPr lang="en-US" dirty="0">
                <a:latin typeface="Bodoni MT" panose="02070603080606020203" pitchFamily="18" charset="0"/>
              </a:rPr>
              <a:t>Used search logic with contains() and </a:t>
            </a:r>
            <a:r>
              <a:rPr lang="en-US" dirty="0" err="1">
                <a:latin typeface="Bodoni MT" panose="02070603080606020203" pitchFamily="18" charset="0"/>
              </a:rPr>
              <a:t>toLowerCase</a:t>
            </a:r>
            <a:r>
              <a:rPr lang="en-US" dirty="0">
                <a:latin typeface="Bodoni MT" panose="02070603080606020203" pitchFamily="18" charset="0"/>
              </a:rPr>
              <a:t>() for flexible title matching</a:t>
            </a:r>
          </a:p>
          <a:p>
            <a:pPr marL="0" indent="0">
              <a:buNone/>
            </a:pPr>
            <a:r>
              <a:rPr lang="en-US" dirty="0">
                <a:latin typeface="Bodoni MT" panose="02070603080606020203" pitchFamily="18" charset="0"/>
              </a:rPr>
              <a:t>Implemented menu-driven system using switch-case for user interaction</a:t>
            </a:r>
          </a:p>
          <a:p>
            <a:pPr marL="0" indent="0">
              <a:buNone/>
            </a:pPr>
            <a:r>
              <a:rPr lang="en-US" b="1" dirty="0">
                <a:latin typeface="Bodoni MT" panose="02070603080606020203" pitchFamily="18" charset="0"/>
              </a:rPr>
              <a:t>Why Chosen:</a:t>
            </a:r>
          </a:p>
          <a:p>
            <a:pPr marL="0" indent="0">
              <a:buNone/>
            </a:pPr>
            <a:r>
              <a:rPr lang="en-US" dirty="0" err="1">
                <a:latin typeface="Bodoni MT" panose="02070603080606020203" pitchFamily="18" charset="0"/>
              </a:rPr>
              <a:t>isAvailable</a:t>
            </a:r>
            <a:r>
              <a:rPr lang="en-US" dirty="0">
                <a:latin typeface="Bodoni MT" panose="02070603080606020203" pitchFamily="18" charset="0"/>
              </a:rPr>
              <a:t> ensures no duplicate borrowing of the same book</a:t>
            </a:r>
          </a:p>
          <a:p>
            <a:pPr marL="0" indent="0">
              <a:buNone/>
            </a:pPr>
            <a:r>
              <a:rPr lang="en-US" dirty="0">
                <a:latin typeface="Bodoni MT" panose="02070603080606020203" pitchFamily="18" charset="0"/>
              </a:rPr>
              <a:t>Separate methods for borrow/return improve modularity and code clarity</a:t>
            </a:r>
          </a:p>
          <a:p>
            <a:pPr marL="0" indent="0">
              <a:buNone/>
            </a:pPr>
            <a:r>
              <a:rPr lang="en-US" dirty="0">
                <a:latin typeface="Bodoni MT" panose="02070603080606020203" pitchFamily="18" charset="0"/>
              </a:rPr>
              <a:t>Flexible search allows users to find books even with partial or case-insensitive input</a:t>
            </a:r>
          </a:p>
          <a:p>
            <a:pPr marL="0" indent="0">
              <a:buNone/>
            </a:pPr>
            <a:r>
              <a:rPr lang="en-US" dirty="0">
                <a:latin typeface="Bodoni MT" panose="02070603080606020203" pitchFamily="18" charset="0"/>
              </a:rPr>
              <a:t>Menu-driven approach provides simple and user-friendly interaction</a:t>
            </a:r>
          </a:p>
        </p:txBody>
      </p:sp>
    </p:spTree>
    <p:extLst>
      <p:ext uri="{BB962C8B-B14F-4D97-AF65-F5344CB8AC3E}">
        <p14:creationId xmlns:p14="http://schemas.microsoft.com/office/powerpoint/2010/main" val="299532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new book to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BBAD72-81BD-244A-538C-34C6F4576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7988" y="1628800"/>
            <a:ext cx="5796000" cy="493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-12700"/>
            <a:ext cx="10157354" cy="1397000"/>
          </a:xfrm>
        </p:spPr>
        <p:txBody>
          <a:bodyPr/>
          <a:lstStyle/>
          <a:p>
            <a:r>
              <a:rPr lang="en-US" dirty="0"/>
              <a:t>Error Handling Cases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DEB3EC-15B3-EAC9-E8E7-4817647CB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8188" y="1384300"/>
            <a:ext cx="5577449" cy="514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1F362E-69F9-C13B-EF48-6579ED3504E5}"/>
              </a:ext>
            </a:extLst>
          </p:cNvPr>
          <p:cNvSpPr txBox="1"/>
          <p:nvPr/>
        </p:nvSpPr>
        <p:spPr>
          <a:xfrm>
            <a:off x="261764" y="2636912"/>
            <a:ext cx="95303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odoni MT" panose="02070603080606020203" pitchFamily="18" charset="0"/>
              </a:rPr>
              <a:t> implemented validation</a:t>
            </a:r>
          </a:p>
          <a:p>
            <a:r>
              <a:rPr lang="en-IN" dirty="0">
                <a:latin typeface="Bodoni MT" panose="02070603080606020203" pitchFamily="18" charset="0"/>
              </a:rPr>
              <a:t> checks to ensure the </a:t>
            </a:r>
          </a:p>
          <a:p>
            <a:r>
              <a:rPr lang="en-IN" dirty="0">
                <a:latin typeface="Bodoni MT" panose="02070603080606020203" pitchFamily="18" charset="0"/>
              </a:rPr>
              <a:t>System handles incorrect </a:t>
            </a:r>
          </a:p>
          <a:p>
            <a:r>
              <a:rPr lang="en-IN" dirty="0">
                <a:latin typeface="Bodoni MT" panose="02070603080606020203" pitchFamily="18" charset="0"/>
              </a:rPr>
              <a:t>inputs gracefully </a:t>
            </a:r>
          </a:p>
          <a:p>
            <a:r>
              <a:rPr lang="en-IN" dirty="0">
                <a:latin typeface="Bodoni MT" panose="02070603080606020203" pitchFamily="18" charset="0"/>
              </a:rPr>
              <a:t>without crashing.</a:t>
            </a:r>
          </a:p>
        </p:txBody>
      </p:sp>
    </p:spTree>
    <p:extLst>
      <p:ext uri="{BB962C8B-B14F-4D97-AF65-F5344CB8AC3E}">
        <p14:creationId xmlns:p14="http://schemas.microsoft.com/office/powerpoint/2010/main" val="97722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47</TotalTime>
  <Words>258</Words>
  <Application>Microsoft Office PowerPoint</Application>
  <PresentationFormat>Custom</PresentationFormat>
  <Paragraphs>36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Bodoni MT</vt:lpstr>
      <vt:lpstr>Calisto MT</vt:lpstr>
      <vt:lpstr>Century Gothic</vt:lpstr>
      <vt:lpstr>Class open house presentation</vt:lpstr>
      <vt:lpstr>Library Management system</vt:lpstr>
      <vt:lpstr>Title: Library Management System </vt:lpstr>
      <vt:lpstr>System Design</vt:lpstr>
      <vt:lpstr>OOP Concepts Used</vt:lpstr>
      <vt:lpstr>Technical Highlight</vt:lpstr>
      <vt:lpstr>Adding a new book to system</vt:lpstr>
      <vt:lpstr>Error Handling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nitimohajan05@outlook.com</dc:creator>
  <cp:lastModifiedBy>nitimohajan05@outlook.com</cp:lastModifiedBy>
  <cp:revision>1</cp:revision>
  <dcterms:created xsi:type="dcterms:W3CDTF">2026-03-27T05:23:21Z</dcterms:created>
  <dcterms:modified xsi:type="dcterms:W3CDTF">2026-03-27T06:11:09Z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